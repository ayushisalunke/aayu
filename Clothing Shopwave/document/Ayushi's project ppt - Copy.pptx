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59C4-8CB4-F0E4-42FB-6E0B70846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1498A-4591-C8A8-F5D1-1CFB6A2D4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94B2-E7C8-C4B4-81AA-D4680928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7D49F-5F3F-B012-924C-E53B6CE4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F9199-223A-80A0-C42A-B05BD95A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19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0F19-A132-1586-D35D-058F8095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4679-2020-A79A-0D1D-4E4872352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9B9B0-78E6-1E7C-66B4-A9C21D59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AFC81-88A3-AECF-ABEB-C4971A39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84FC-C860-FB89-203C-9112AFC1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56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4961-EB1C-7578-12CF-5C1D674B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4D339-62E5-9070-E7CF-14AF87F69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89355-0E79-E79A-5601-D16DBA42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5B7D9-120A-6680-8D1B-E6082F85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2DD4F-2F54-EAD6-6FAB-10FBE197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090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7777-F58C-CBC9-54A6-83D35D43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CA934-324C-CF26-94AE-F7D86215F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63ACC-E2A7-23E3-0A99-3715A6D8A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1D85D-524D-0F8A-F39D-79E67050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C5D23-A01E-C814-3E4D-A6706390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2FE5D-CC8F-E795-16F5-93D1BE88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42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8F8E-9898-B570-7AE1-2CB3214A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54BA3-32ED-FE4C-AC8B-51BF31DF3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1BDC9-5BEE-F8F1-6914-79F74D341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2BCD7-3E30-3E11-7004-3FC3E57F8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292148-1785-5389-90FB-301768FD5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DBF0C-0C91-6EC2-BC64-0EA26279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99959-11AE-79EE-F5B5-4609E32E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EDA58-472D-4468-5F53-A1B09E92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9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05B5-D7AA-7717-F711-12B3595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81597-5188-04FB-40B9-05F4720E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CA04B-95B3-E223-7FEA-2FB319A7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9BEFC-6E63-C14B-DF8E-F40FDAF3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57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04F53-25E7-4EA9-3B58-29004944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768AE-1844-0534-92CF-ACDDE757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A309A-7592-72C2-D397-919D4A1F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68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00A0-61EF-383B-0AAD-A8F1770C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88060-4C0C-B9C2-7FE3-960532ED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BB987-D8E9-06AA-2FA9-B046B68ED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BA610-98AC-DF9A-8636-0C05E905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DEE83-048C-35B1-3D4E-4241EC5D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E54FB-4424-06DE-0D7A-D4F26C26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2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CE8A-B399-5B24-885D-9147B851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6C033-2918-F038-096C-0DAAB844A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5237E-ED9E-D7F0-0A82-08756C1D8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4BF4E-542C-976C-EEE3-C1757A5E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14522-FB8C-7CB8-0617-31FB361E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B8399-B528-8B9F-129D-F1ED40BC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0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160A-347C-9C59-695B-5FD364F7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61200-547E-3866-959F-BA12AF4EF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2696F-0DB7-4175-B3DB-9F0DDCB4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90350-D1DA-86C2-12B3-83DEFE0B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A7652-3511-7298-C553-D7B2B531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35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01987-2078-0D2A-8176-035D435B2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213C3-7DA6-BA5C-E544-B32CDA09E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4280-FA77-7E19-4755-8083CD2D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743D-337F-64EC-85F6-43205230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875C-403B-1C2B-3F9F-D6CE5935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62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2E03F-48AD-B4D9-DE93-A22E5684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BB519-7679-70AF-83D4-89FF7092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5554-5651-37CF-F11D-813A5F7FD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4E9AA-C3E3-43B3-B6EC-003D585BEE5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29683-AC7F-158F-7555-33641022B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4C971-0279-49D1-E25C-BF9341DB6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1CBE0-0035-4A30-A75A-83DD292B1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51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370243-DBA7-2C90-D17B-9411259E1D2D}"/>
              </a:ext>
            </a:extLst>
          </p:cNvPr>
          <p:cNvSpPr txBox="1"/>
          <p:nvPr/>
        </p:nvSpPr>
        <p:spPr>
          <a:xfrm>
            <a:off x="416719" y="147332"/>
            <a:ext cx="11358562" cy="6922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980000"/>
                </a:solidFill>
                <a:effectLst/>
                <a:latin typeface="Times New Roman" panose="02020603050405020304" pitchFamily="18" charset="0"/>
              </a:rPr>
              <a:t>Silver Oak College of Computer Application 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980000"/>
                </a:solidFill>
                <a:effectLst/>
                <a:latin typeface="Times New Roman" panose="02020603050405020304" pitchFamily="18" charset="0"/>
              </a:rPr>
              <a:t>Department of Computer Application 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74"/>
              </a:spcBef>
              <a:buNone/>
            </a:pP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PROJECT PRESENTATION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74"/>
              </a:spcBef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ON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74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do list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algn="ctr" rtl="0">
              <a:spcBef>
                <a:spcPts val="374"/>
              </a:spcBef>
              <a:buNone/>
            </a:pPr>
            <a:br>
              <a:rPr lang="en-US" b="0" dirty="0">
                <a:effectLst/>
              </a:rPr>
            </a:br>
            <a:r>
              <a:rPr lang="en-US" sz="1200" b="1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Submitted By: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425"/>
              </a:spcBef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Shah Bhavya (2404070100047)</a:t>
            </a:r>
          </a:p>
          <a:p>
            <a:pPr indent="-342900" algn="ctr">
              <a:spcBef>
                <a:spcPts val="425"/>
              </a:spcBef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Kukreja Manisha (2404070100048)</a:t>
            </a:r>
          </a:p>
          <a:p>
            <a:pPr indent="-342900" algn="ctr">
              <a:spcBef>
                <a:spcPts val="425"/>
              </a:spcBef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Prajapati Aarchi (2404070100050)</a:t>
            </a:r>
          </a:p>
          <a:p>
            <a:pPr indent="-342900" algn="ctr">
              <a:spcBef>
                <a:spcPts val="425"/>
              </a:spcBef>
            </a:pPr>
            <a:br>
              <a:rPr lang="en-US" sz="1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Master of Computer Application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74"/>
              </a:spcBef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Semester III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74"/>
              </a:spcBef>
              <a:buNone/>
            </a:pPr>
            <a:br>
              <a:rPr lang="en-US" b="0" dirty="0">
                <a:effectLst/>
              </a:rPr>
            </a:b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Group No: 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74"/>
              </a:spcBef>
              <a:buNone/>
            </a:pPr>
            <a:br>
              <a:rPr lang="en-US" b="0" dirty="0">
                <a:effectLst/>
              </a:rPr>
            </a:br>
            <a:r>
              <a:rPr lang="en-US" sz="1200" b="1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Guide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289"/>
              </a:spcBef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Mr. Shubh Shah 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323"/>
              </a:spcBef>
              <a:buNone/>
            </a:pPr>
            <a:br>
              <a:rPr lang="en-US" b="0" dirty="0">
                <a:effectLst/>
              </a:rPr>
            </a:br>
            <a:r>
              <a:rPr lang="en-US" sz="1050" b="1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Submitted To</a:t>
            </a:r>
            <a:endParaRPr lang="en-US" b="0" dirty="0">
              <a:effectLst/>
            </a:endParaRPr>
          </a:p>
          <a:p>
            <a:pPr algn="ctr" rtl="0">
              <a:buNone/>
            </a:pPr>
            <a:br>
              <a:rPr lang="en-US" b="0" dirty="0">
                <a:effectLst/>
              </a:rPr>
            </a:b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Department of Computer Application </a:t>
            </a:r>
            <a:endParaRPr lang="en-US" b="0" dirty="0">
              <a:effectLst/>
            </a:endParaRPr>
          </a:p>
          <a:p>
            <a:pPr algn="ctr" rtl="0">
              <a:spcBef>
                <a:spcPts val="289"/>
              </a:spcBef>
              <a:buNone/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Silver Oak University, Gota, Ahmedabad, 382481</a:t>
            </a:r>
            <a:endParaRPr lang="en-US" b="0" dirty="0">
              <a:effectLst/>
            </a:endParaRPr>
          </a:p>
          <a:p>
            <a:pPr indent="-342900" algn="ctr" rtl="0">
              <a:spcBef>
                <a:spcPts val="289"/>
              </a:spcBef>
              <a:buNone/>
            </a:pP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Academic Year 2025-26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E5451C16-5FDB-6E70-C123-3B1A0AFC98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5525" y="147333"/>
            <a:ext cx="1859756" cy="5384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C230B75-64EF-3AF7-83C9-F789EEF28EC0}"/>
              </a:ext>
            </a:extLst>
          </p:cNvPr>
          <p:cNvSpPr>
            <a:spLocks noGrp="1"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B25D2D-59A1-2200-4FD3-30573D946FE9}"/>
              </a:ext>
            </a:extLst>
          </p:cNvPr>
          <p:cNvSpPr>
            <a:spLocks noGrp="1"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205B142-C35D-BE75-4DA1-D3BAFA3D7E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>
            <a:defPPr>
              <a:defRPr lang="en-US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F1918818-74F8-7F89-B655-48651683A5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5575" y="62865"/>
            <a:ext cx="1965962" cy="568994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0273D123-BA47-58FA-21C4-68E72626AADE}"/>
              </a:ext>
            </a:extLst>
          </p:cNvPr>
          <p:cNvSpPr txBox="1">
            <a:spLocks noGrp="1"/>
          </p:cNvSpPr>
          <p:nvPr/>
        </p:nvSpPr>
        <p:spPr>
          <a:xfrm>
            <a:off x="3034705" y="62865"/>
            <a:ext cx="61225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u="heavy" kern="1200">
                <a:solidFill>
                  <a:srgbClr val="262626"/>
                </a:solidFill>
                <a:latin typeface="Times New Roman"/>
                <a:ea typeface="+mj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5080" algn="ctr">
              <a:lnSpc>
                <a:spcPct val="100000"/>
              </a:lnSpc>
              <a:spcBef>
                <a:spcPts val="100"/>
              </a:spcBef>
            </a:pPr>
            <a:r>
              <a:rPr u="none" dirty="0">
                <a:solidFill>
                  <a:srgbClr val="980000"/>
                </a:solidFill>
              </a:rPr>
              <a:t>School</a:t>
            </a:r>
            <a:r>
              <a:rPr u="none" spc="-30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of</a:t>
            </a:r>
            <a:r>
              <a:rPr u="none" spc="-55" dirty="0">
                <a:solidFill>
                  <a:srgbClr val="980000"/>
                </a:solidFill>
              </a:rPr>
              <a:t> </a:t>
            </a:r>
            <a:r>
              <a:rPr u="none" spc="-25" dirty="0">
                <a:solidFill>
                  <a:srgbClr val="980000"/>
                </a:solidFill>
              </a:rPr>
              <a:t>Technology,</a:t>
            </a:r>
            <a:r>
              <a:rPr u="none" spc="-15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Design</a:t>
            </a:r>
            <a:r>
              <a:rPr u="none" spc="-20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and</a:t>
            </a:r>
            <a:r>
              <a:rPr u="none" spc="-20" dirty="0">
                <a:solidFill>
                  <a:srgbClr val="980000"/>
                </a:solidFill>
              </a:rPr>
              <a:t> </a:t>
            </a:r>
            <a:r>
              <a:rPr u="none" spc="-10" dirty="0">
                <a:solidFill>
                  <a:srgbClr val="980000"/>
                </a:solidFill>
              </a:rPr>
              <a:t>Computer</a:t>
            </a:r>
            <a:r>
              <a:rPr u="none" spc="-150" dirty="0">
                <a:solidFill>
                  <a:srgbClr val="980000"/>
                </a:solidFill>
              </a:rPr>
              <a:t> </a:t>
            </a:r>
            <a:r>
              <a:rPr u="none" spc="-10" dirty="0">
                <a:solidFill>
                  <a:srgbClr val="980000"/>
                </a:solidFill>
              </a:rPr>
              <a:t>Application </a:t>
            </a:r>
            <a:r>
              <a:rPr u="none" dirty="0">
                <a:solidFill>
                  <a:srgbClr val="980000"/>
                </a:solidFill>
              </a:rPr>
              <a:t>Silver</a:t>
            </a:r>
            <a:r>
              <a:rPr u="none" spc="-50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Oak</a:t>
            </a:r>
            <a:r>
              <a:rPr u="none" spc="-10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College</a:t>
            </a:r>
            <a:r>
              <a:rPr u="none" spc="-10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of</a:t>
            </a:r>
            <a:r>
              <a:rPr u="none" spc="-5" dirty="0">
                <a:solidFill>
                  <a:srgbClr val="980000"/>
                </a:solidFill>
              </a:rPr>
              <a:t> </a:t>
            </a:r>
            <a:r>
              <a:rPr u="none" spc="-10" dirty="0">
                <a:solidFill>
                  <a:srgbClr val="980000"/>
                </a:solidFill>
              </a:rPr>
              <a:t>Compter</a:t>
            </a:r>
            <a:r>
              <a:rPr u="none" spc="-150" dirty="0">
                <a:solidFill>
                  <a:srgbClr val="980000"/>
                </a:solidFill>
              </a:rPr>
              <a:t> </a:t>
            </a:r>
            <a:r>
              <a:rPr u="none" spc="-10" dirty="0">
                <a:solidFill>
                  <a:srgbClr val="980000"/>
                </a:solidFill>
              </a:rPr>
              <a:t>Application</a:t>
            </a:r>
          </a:p>
          <a:p>
            <a:pPr algn="ctr">
              <a:lnSpc>
                <a:spcPct val="100000"/>
              </a:lnSpc>
            </a:pPr>
            <a:r>
              <a:rPr u="none" dirty="0">
                <a:solidFill>
                  <a:srgbClr val="980000"/>
                </a:solidFill>
              </a:rPr>
              <a:t>Department</a:t>
            </a:r>
            <a:r>
              <a:rPr u="none" spc="5" dirty="0">
                <a:solidFill>
                  <a:srgbClr val="980000"/>
                </a:solidFill>
              </a:rPr>
              <a:t> </a:t>
            </a:r>
            <a:r>
              <a:rPr u="none" dirty="0">
                <a:solidFill>
                  <a:srgbClr val="980000"/>
                </a:solidFill>
              </a:rPr>
              <a:t>of</a:t>
            </a:r>
            <a:r>
              <a:rPr u="none" spc="15" dirty="0">
                <a:solidFill>
                  <a:srgbClr val="980000"/>
                </a:solidFill>
              </a:rPr>
              <a:t> </a:t>
            </a:r>
            <a:r>
              <a:rPr u="none" spc="-10" dirty="0">
                <a:solidFill>
                  <a:srgbClr val="980000"/>
                </a:solidFill>
              </a:rPr>
              <a:t>Computer</a:t>
            </a:r>
            <a:r>
              <a:rPr u="none" spc="-135" dirty="0">
                <a:solidFill>
                  <a:srgbClr val="980000"/>
                </a:solidFill>
              </a:rPr>
              <a:t> </a:t>
            </a:r>
            <a:r>
              <a:rPr u="none" spc="-10" dirty="0">
                <a:solidFill>
                  <a:srgbClr val="980000"/>
                </a:solidFill>
              </a:rPr>
              <a:t>Application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FC7DEFEA-CCD3-C116-F5AC-98965271D196}"/>
              </a:ext>
            </a:extLst>
          </p:cNvPr>
          <p:cNvSpPr txBox="1"/>
          <p:nvPr/>
        </p:nvSpPr>
        <p:spPr>
          <a:xfrm>
            <a:off x="3321745" y="1278709"/>
            <a:ext cx="5472310" cy="2418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marR="39370" algn="ctr">
              <a:lnSpc>
                <a:spcPct val="122300"/>
              </a:lnSpc>
              <a:spcBef>
                <a:spcPts val="100"/>
              </a:spcBef>
            </a:pPr>
            <a:r>
              <a:rPr sz="1400" b="1" spc="-20" dirty="0">
                <a:latin typeface="Times New Roman"/>
                <a:cs typeface="Times New Roman"/>
              </a:rPr>
              <a:t>A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PROJECT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PRESENTATION </a:t>
            </a:r>
            <a:r>
              <a:rPr sz="1400" b="1" spc="-25" dirty="0">
                <a:latin typeface="Times New Roman"/>
                <a:cs typeface="Times New Roman"/>
              </a:rPr>
              <a:t>ON</a:t>
            </a:r>
            <a:endParaRPr lang="en-US" sz="1400" b="1" spc="-25" dirty="0">
              <a:latin typeface="Times New Roman"/>
              <a:cs typeface="Times New Roman"/>
            </a:endParaRPr>
          </a:p>
          <a:p>
            <a:pPr marL="45720" marR="39370" algn="ctr">
              <a:lnSpc>
                <a:spcPct val="122300"/>
              </a:lnSpc>
              <a:spcBef>
                <a:spcPts val="100"/>
              </a:spcBef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to-do</a:t>
            </a:r>
          </a:p>
          <a:p>
            <a:pPr marL="45720" marR="39370" algn="ctr">
              <a:lnSpc>
                <a:spcPct val="122300"/>
              </a:lnSpc>
              <a:spcBef>
                <a:spcPts val="100"/>
              </a:spcBef>
            </a:pPr>
            <a:endParaRPr lang="en-IN" sz="1400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Submitted</a:t>
            </a:r>
            <a:r>
              <a:rPr sz="1400" b="1" u="heavy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</a:t>
            </a:r>
            <a:endParaRPr lang="en-US" sz="1400" b="1" u="heavy" spc="-25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indent="-342900">
              <a:spcBef>
                <a:spcPts val="425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 	                  Patel Mitu (2404070100147)</a:t>
            </a:r>
          </a:p>
          <a:p>
            <a:pPr indent="-342900">
              <a:spcBef>
                <a:spcPts val="425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              Salunke Ayushi (2404070100190)</a:t>
            </a:r>
          </a:p>
          <a:p>
            <a:pPr marL="785495" marR="5080" indent="-773430" algn="ctr">
              <a:lnSpc>
                <a:spcPct val="192300"/>
              </a:lnSpc>
              <a:spcBef>
                <a:spcPts val="55"/>
              </a:spcBef>
            </a:pPr>
            <a:r>
              <a:rPr sz="1400" b="1" spc="-10" dirty="0">
                <a:latin typeface="Times New Roman"/>
                <a:cs typeface="Times New Roman"/>
              </a:rPr>
              <a:t>Master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Computer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Application </a:t>
            </a:r>
            <a:endParaRPr lang="en-IN" sz="1400" b="1" spc="-10" dirty="0">
              <a:latin typeface="Times New Roman"/>
              <a:cs typeface="Times New Roman"/>
            </a:endParaRPr>
          </a:p>
          <a:p>
            <a:pPr marL="785495" marR="5080" indent="-773430" algn="ctr">
              <a:lnSpc>
                <a:spcPct val="192300"/>
              </a:lnSpc>
              <a:spcBef>
                <a:spcPts val="55"/>
              </a:spcBef>
            </a:pPr>
            <a:r>
              <a:rPr sz="1400" b="1" spc="-10" dirty="0">
                <a:latin typeface="Times New Roman"/>
                <a:cs typeface="Times New Roman"/>
              </a:rPr>
              <a:t>Semester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I</a:t>
            </a:r>
            <a:r>
              <a:rPr lang="en-IN" sz="1400" b="1" spc="-25" dirty="0">
                <a:latin typeface="Times New Roman"/>
                <a:cs typeface="Times New Roman"/>
              </a:rPr>
              <a:t>II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DCA1607E-CA6F-A366-E404-320D61234AB8}"/>
              </a:ext>
            </a:extLst>
          </p:cNvPr>
          <p:cNvSpPr txBox="1"/>
          <p:nvPr/>
        </p:nvSpPr>
        <p:spPr>
          <a:xfrm>
            <a:off x="4305300" y="4102837"/>
            <a:ext cx="3581399" cy="235583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3111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Group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No: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lang="en-US" sz="1400" b="1" spc="-35" dirty="0">
                <a:latin typeface="Times New Roman"/>
                <a:cs typeface="Times New Roman"/>
              </a:rPr>
              <a:t>17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R="31750" algn="ctr">
              <a:lnSpc>
                <a:spcPct val="100000"/>
              </a:lnSpc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</a:t>
            </a:r>
            <a:endParaRPr sz="1400" dirty="0">
              <a:latin typeface="Times New Roman"/>
              <a:cs typeface="Times New Roman"/>
            </a:endParaRPr>
          </a:p>
          <a:p>
            <a:pPr marR="31115" algn="ctr">
              <a:lnSpc>
                <a:spcPct val="100000"/>
              </a:lnSpc>
              <a:spcBef>
                <a:spcPts val="610"/>
              </a:spcBef>
            </a:pP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lang="en-IN" sz="1800" spc="-10" dirty="0">
                <a:latin typeface="Times New Roman"/>
                <a:cs typeface="Times New Roman"/>
              </a:rPr>
              <a:t>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lang="en-US" sz="1800" spc="-55" dirty="0">
                <a:latin typeface="Times New Roman"/>
                <a:cs typeface="Times New Roman"/>
              </a:rPr>
              <a:t>Jeenal </a:t>
            </a:r>
            <a:r>
              <a:rPr lang="en-US" sz="1800" spc="-55" dirty="0" err="1">
                <a:latin typeface="Times New Roman"/>
                <a:cs typeface="Times New Roman"/>
              </a:rPr>
              <a:t>Panchasara</a:t>
            </a:r>
            <a:endParaRPr sz="1800" dirty="0">
              <a:latin typeface="Times New Roman"/>
              <a:cs typeface="Times New Roman"/>
            </a:endParaRPr>
          </a:p>
          <a:p>
            <a:pPr marR="30480" algn="ctr">
              <a:lnSpc>
                <a:spcPct val="100000"/>
              </a:lnSpc>
              <a:spcBef>
                <a:spcPts val="2045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Submitted</a:t>
            </a:r>
            <a:r>
              <a:rPr sz="11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R="31115" algn="ctr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Computer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Application</a:t>
            </a:r>
            <a:endParaRPr lang="en-IN" sz="1400" b="1" spc="-10" dirty="0">
              <a:latin typeface="Times New Roman"/>
              <a:cs typeface="Times New Roman"/>
            </a:endParaRPr>
          </a:p>
          <a:p>
            <a:pPr marR="31115" algn="ctr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</a:rPr>
              <a:t>Silver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Oak</a:t>
            </a:r>
            <a:r>
              <a:rPr sz="1000" spc="-10" dirty="0">
                <a:latin typeface="Times New Roman"/>
                <a:cs typeface="Times New Roman"/>
              </a:rPr>
              <a:t> University,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Gota,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Ahmedabad,</a:t>
            </a:r>
            <a:r>
              <a:rPr sz="1000" spc="-10" dirty="0">
                <a:latin typeface="Times New Roman"/>
                <a:cs typeface="Times New Roman"/>
              </a:rPr>
              <a:t> 38248</a:t>
            </a:r>
            <a:endParaRPr lang="en-IN" sz="1000" spc="-10" dirty="0">
              <a:latin typeface="Times New Roman"/>
              <a:cs typeface="Times New Roman"/>
            </a:endParaRPr>
          </a:p>
          <a:p>
            <a:pPr marL="824230" marR="5080" indent="-450215" algn="ctr" rtl="1">
              <a:lnSpc>
                <a:spcPct val="124100"/>
              </a:lnSpc>
              <a:spcBef>
                <a:spcPts val="20"/>
              </a:spcBef>
            </a:pPr>
            <a:r>
              <a:rPr lang="en-IN" sz="1000" spc="-10" dirty="0">
                <a:latin typeface="Times New Roman"/>
                <a:cs typeface="Times New Roman"/>
              </a:rPr>
              <a:t>        </a:t>
            </a:r>
            <a:r>
              <a:rPr sz="1000" spc="-10" dirty="0">
                <a:latin typeface="Times New Roman"/>
                <a:cs typeface="Times New Roman"/>
              </a:rPr>
              <a:t>Academic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Year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2025-</a:t>
            </a:r>
            <a:r>
              <a:rPr sz="1000" spc="-25" dirty="0">
                <a:latin typeface="Times New Roman"/>
                <a:cs typeface="Times New Roman"/>
              </a:rPr>
              <a:t>26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604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7143ED-C6F1-EEC7-F166-7A10EF2F636F}"/>
              </a:ext>
            </a:extLst>
          </p:cNvPr>
          <p:cNvSpPr txBox="1"/>
          <p:nvPr/>
        </p:nvSpPr>
        <p:spPr>
          <a:xfrm>
            <a:off x="3049191" y="378820"/>
            <a:ext cx="6093618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430"/>
              </a:spcBef>
              <a:tabLst>
                <a:tab pos="2473960" algn="l"/>
              </a:tabLst>
            </a:pPr>
            <a:r>
              <a:rPr lang="en-US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7363B-E986-B089-E612-D466B22C3028}"/>
              </a:ext>
            </a:extLst>
          </p:cNvPr>
          <p:cNvSpPr txBox="1"/>
          <p:nvPr/>
        </p:nvSpPr>
        <p:spPr>
          <a:xfrm>
            <a:off x="1202532" y="1527514"/>
            <a:ext cx="9786936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"E-commerce Website" project aims to create a dynamic, user-friendly online platform for buying and selling products. This system will serve as a digital storefront, allowing businesses to showcase their products to a global audience and customers to browse, select, and purchase items conveniently. The platform will be scalable, secure, and intuitive, catering to the growing demands of the online retail market.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8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05F93-70B6-BCC1-02BE-D9BFAD315ACE}"/>
              </a:ext>
            </a:extLst>
          </p:cNvPr>
          <p:cNvSpPr txBox="1"/>
          <p:nvPr/>
        </p:nvSpPr>
        <p:spPr>
          <a:xfrm>
            <a:off x="3049191" y="321669"/>
            <a:ext cx="6093618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430"/>
              </a:spcBef>
              <a:tabLst>
                <a:tab pos="2473960" algn="l"/>
              </a:tabLst>
            </a:pPr>
            <a:r>
              <a:rPr lang="en-US" sz="28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2.ABSTRACT</a:t>
            </a:r>
            <a:endParaRPr lang="en-US" sz="2800" b="1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CDB8F-70ED-1DE7-51A9-A5909F355089}"/>
              </a:ext>
            </a:extLst>
          </p:cNvPr>
          <p:cNvSpPr txBox="1"/>
          <p:nvPr/>
        </p:nvSpPr>
        <p:spPr>
          <a:xfrm>
            <a:off x="816768" y="1607702"/>
            <a:ext cx="10558463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document outlines the development of a comprehensive e-commerce website. The project will address the challenges faced by traditional retail by providing an efficient, accessible, and secure online shopping experience. Key functionalities will include product browsing, a secure shopping cart, multiple payment options, order tracking, and a robust user management system. The system will be built using modern web technologies to ensure a responsive design and high performance.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32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8E597-B88C-8998-57F4-C14E32CEA9CE}"/>
              </a:ext>
            </a:extLst>
          </p:cNvPr>
          <p:cNvSpPr txBox="1"/>
          <p:nvPr/>
        </p:nvSpPr>
        <p:spPr>
          <a:xfrm>
            <a:off x="3049191" y="242450"/>
            <a:ext cx="609361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Bef>
                <a:spcPts val="430"/>
              </a:spcBef>
              <a:tabLst>
                <a:tab pos="2473960" algn="l"/>
              </a:tabLst>
            </a:pPr>
            <a:r>
              <a:rPr lang="en-US" sz="28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3.OBJECTIVE</a:t>
            </a:r>
            <a:endParaRPr lang="en-US" sz="2800" b="1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AE1B2-5F32-616D-E588-8466996545CB}"/>
              </a:ext>
            </a:extLst>
          </p:cNvPr>
          <p:cNvSpPr txBox="1"/>
          <p:nvPr/>
        </p:nvSpPr>
        <p:spPr>
          <a:xfrm>
            <a:off x="628651" y="1097726"/>
            <a:ext cx="11287125" cy="540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To develop a fully functional e-commerce website that supports the entire online shopping process, from product selection to payment and delivery.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○ To provide a secure and reliable platform for online transactions. 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To create an intuitive and easy-to-navigate user interface for a seamless shopping experience.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○ To implement a robust backend system for inventory management, order processing, and customer data management. 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To ensure the website is responsive and accessible on various devices, including desktops, tablets, and smartphones.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11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0F37B-3F3D-2CA9-2708-730A291FAB98}"/>
              </a:ext>
            </a:extLst>
          </p:cNvPr>
          <p:cNvSpPr txBox="1"/>
          <p:nvPr/>
        </p:nvSpPr>
        <p:spPr>
          <a:xfrm>
            <a:off x="2932510" y="343971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4.Problem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FFD75-127A-A841-5158-0596678B98C1}"/>
              </a:ext>
            </a:extLst>
          </p:cNvPr>
          <p:cNvSpPr txBox="1"/>
          <p:nvPr/>
        </p:nvSpPr>
        <p:spPr>
          <a:xfrm>
            <a:off x="581025" y="1179077"/>
            <a:ext cx="11029950" cy="51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problem is the inefficiency and limited reach of traditional brick-and-mortar retail. Businesses are often confined to a specific geographical location, limiting their potential customer base. Similarly, consumers are restricted by store operating hours and physical availability of products. The proposed e-commerce website will solve these issues by providing a 24/7 global marketplace, enabling businesses to expand their reach and offering customers unparalleled convenience and access to a wider variety of products.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80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847C0D-E0BA-0ED5-1E14-26649FC67FE8}"/>
              </a:ext>
            </a:extLst>
          </p:cNvPr>
          <p:cNvSpPr txBox="1"/>
          <p:nvPr/>
        </p:nvSpPr>
        <p:spPr>
          <a:xfrm>
            <a:off x="3049191" y="301109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Existing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C3A51-D268-C268-F808-B8A513536D22}"/>
              </a:ext>
            </a:extLst>
          </p:cNvPr>
          <p:cNvSpPr txBox="1"/>
          <p:nvPr/>
        </p:nvSpPr>
        <p:spPr>
          <a:xfrm>
            <a:off x="985838" y="1698963"/>
            <a:ext cx="9629775" cy="405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many small and medium-sized businesses either rely on traditional retail methods or use generic social media platforms for sales. These existing systems often lack essential e-commerce features such as integrated payment gateways, automated inventory management, and secure user data handling. This leads to manual and error-prone processes, a poor customer experience, and security vulnerabilities.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44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6DF34B-E401-1F47-167E-AA19C659C5F5}"/>
              </a:ext>
            </a:extLst>
          </p:cNvPr>
          <p:cNvSpPr txBox="1"/>
          <p:nvPr/>
        </p:nvSpPr>
        <p:spPr>
          <a:xfrm>
            <a:off x="3049191" y="258246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7AFBF-30E2-1C85-412A-AAF2D89EF8DE}"/>
              </a:ext>
            </a:extLst>
          </p:cNvPr>
          <p:cNvSpPr txBox="1"/>
          <p:nvPr/>
        </p:nvSpPr>
        <p:spPr>
          <a:xfrm>
            <a:off x="766763" y="982062"/>
            <a:ext cx="10658474" cy="561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methodology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iterative development and testing.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functional and non-functional requirements.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 database schema, frontend components, and backend APIs.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HTML, CSS and JavaScript are used.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–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(Laravel) for the backend.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 (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or PostgreSQL) – Store user details, groups, and chat history.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 unit, integration, and user acceptance testing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31301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AC776F-6663-2808-253C-D97391CAE711}"/>
              </a:ext>
            </a:extLst>
          </p:cNvPr>
          <p:cNvSpPr txBox="1"/>
          <p:nvPr/>
        </p:nvSpPr>
        <p:spPr>
          <a:xfrm>
            <a:off x="3049191" y="272534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Requirement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2082B-7C6F-DF24-2916-30F55065E8B2}"/>
              </a:ext>
            </a:extLst>
          </p:cNvPr>
          <p:cNvSpPr txBox="1"/>
          <p:nvPr/>
        </p:nvSpPr>
        <p:spPr>
          <a:xfrm>
            <a:off x="628651" y="1008490"/>
            <a:ext cx="10301287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involves identifying and documenting all the necessary functionalities and constraints for the e-commerce system.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4.1.1 Software Requirements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Windows, macOS, or Linux.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Server: Apache or Nginx.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or PostgreSQL.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 HTML, CSS, JavaScript for the frontend; Python (Django/Flask) or PHP (Laravel) for the backend.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Framework: Custom-built or open-source platforms like Magento, WooCommerce, or Shopify.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SSL/TLS certificate for secure data transmission.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Gateway: Integration with services like Stripe, PayPal, or a local payment provider.</a:t>
            </a:r>
          </a:p>
        </p:txBody>
      </p:sp>
    </p:spTree>
    <p:extLst>
      <p:ext uri="{BB962C8B-B14F-4D97-AF65-F5344CB8AC3E}">
        <p14:creationId xmlns:p14="http://schemas.microsoft.com/office/powerpoint/2010/main" val="286344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4C668E-9474-0DCF-285F-D268965C3832}"/>
              </a:ext>
            </a:extLst>
          </p:cNvPr>
          <p:cNvSpPr txBox="1"/>
          <p:nvPr/>
        </p:nvSpPr>
        <p:spPr>
          <a:xfrm>
            <a:off x="3049191" y="243959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4.1.2 Hardware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B2477-B33C-CA4E-681B-0183D2FAF353}"/>
              </a:ext>
            </a:extLst>
          </p:cNvPr>
          <p:cNvSpPr txBox="1"/>
          <p:nvPr/>
        </p:nvSpPr>
        <p:spPr>
          <a:xfrm>
            <a:off x="928687" y="1294537"/>
            <a:ext cx="9829799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A dedicated server or cloud hosting service (e.g., AWS, Google Cloud) with a minimum of 8 GB RAM and a multi-core processor to handle user traffic.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500 GB SSD for fast data access and a large volume of product images and data.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High-speed internet connection for consistent server uptime. </a:t>
            </a:r>
          </a:p>
        </p:txBody>
      </p:sp>
    </p:spTree>
    <p:extLst>
      <p:ext uri="{BB962C8B-B14F-4D97-AF65-F5344CB8AC3E}">
        <p14:creationId xmlns:p14="http://schemas.microsoft.com/office/powerpoint/2010/main" val="239002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B95F-3D43-4626-92BD-7FD7188F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2" y="365125"/>
            <a:ext cx="10415337" cy="1325563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</a:t>
            </a:r>
            <a:r>
              <a:rPr lang="en-US" b="1" dirty="0"/>
              <a:t> </a:t>
            </a:r>
            <a:r>
              <a:rPr 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F5AF7C-075C-4219-BCA8-DF6F64BA2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211" y="1955384"/>
            <a:ext cx="6593306" cy="3932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26AED2-9455-4B10-8345-D49705676BF5}"/>
              </a:ext>
            </a:extLst>
          </p:cNvPr>
          <p:cNvSpPr txBox="1"/>
          <p:nvPr/>
        </p:nvSpPr>
        <p:spPr>
          <a:xfrm flipH="1">
            <a:off x="938462" y="1462495"/>
            <a:ext cx="260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:</a:t>
            </a:r>
          </a:p>
        </p:txBody>
      </p:sp>
    </p:spTree>
    <p:extLst>
      <p:ext uri="{BB962C8B-B14F-4D97-AF65-F5344CB8AC3E}">
        <p14:creationId xmlns:p14="http://schemas.microsoft.com/office/powerpoint/2010/main" val="8234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85DA-83A9-42AD-9C64-5335FAC8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E-R Diagram</a:t>
            </a:r>
          </a:p>
        </p:txBody>
      </p:sp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1EB2198E-45BF-4A4E-BAB3-BF0CE7C57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432" y="1690689"/>
            <a:ext cx="8494294" cy="40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19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D35318-4B67-48A0-AFC6-2488D6A0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9137" y="649705"/>
            <a:ext cx="7628021" cy="549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42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409A-DB2C-4FDE-830A-B0B06008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B7AB728-021A-4837-BE49-55EFE9816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2508" y="2342335"/>
            <a:ext cx="5811491" cy="217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41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066611-6B6C-4392-A528-EC99FD482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3280" y="974360"/>
            <a:ext cx="6205440" cy="437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27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01446-8125-4450-82A0-6EA348A85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4636"/>
            <a:ext cx="10515600" cy="5592347"/>
          </a:xfrm>
        </p:spPr>
        <p:txBody>
          <a:bodyPr/>
          <a:lstStyle/>
          <a:p>
            <a:r>
              <a:rPr lang="en-US" dirty="0"/>
              <a:t>Level 2 Admin DFD: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73546-6561-4B7D-BCA9-82E15B97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80" y="1160982"/>
            <a:ext cx="3057952" cy="5011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260030-817A-4B46-9F27-5E3FECD67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9324"/>
            <a:ext cx="4073941" cy="485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40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18A64C-6396-406B-8EC5-FEFBBF296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1879" y="947977"/>
            <a:ext cx="4897091" cy="496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7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2340-10B5-4DC4-9454-F9D7862C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DICTIONARY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74B8301-B622-4521-ADA5-9290B1F37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532857"/>
              </p:ext>
            </p:extLst>
          </p:nvPr>
        </p:nvGraphicFramePr>
        <p:xfrm>
          <a:off x="1363980" y="2038559"/>
          <a:ext cx="8285345" cy="14630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657588">
                  <a:extLst>
                    <a:ext uri="{9D8B030D-6E8A-4147-A177-3AD203B41FA5}">
                      <a16:colId xmlns:a16="http://schemas.microsoft.com/office/drawing/2014/main" val="539303286"/>
                    </a:ext>
                  </a:extLst>
                </a:gridCol>
                <a:gridCol w="2209541">
                  <a:extLst>
                    <a:ext uri="{9D8B030D-6E8A-4147-A177-3AD203B41FA5}">
                      <a16:colId xmlns:a16="http://schemas.microsoft.com/office/drawing/2014/main" val="1831517530"/>
                    </a:ext>
                  </a:extLst>
                </a:gridCol>
                <a:gridCol w="1254438">
                  <a:extLst>
                    <a:ext uri="{9D8B030D-6E8A-4147-A177-3AD203B41FA5}">
                      <a16:colId xmlns:a16="http://schemas.microsoft.com/office/drawing/2014/main" val="3028256840"/>
                    </a:ext>
                  </a:extLst>
                </a:gridCol>
                <a:gridCol w="3163778">
                  <a:extLst>
                    <a:ext uri="{9D8B030D-6E8A-4147-A177-3AD203B41FA5}">
                      <a16:colId xmlns:a16="http://schemas.microsoft.com/office/drawing/2014/main" val="194365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76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Primary key — unique user identifier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991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VARCHAR(150)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Full name of the user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78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Email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UQ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 email (used to login)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2247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password_hash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Hashed password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343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Role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ENUM(‘user’,‘admin’)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Role for access control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003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Phone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Optional contact number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907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Account creation timestamp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08567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904094-9B33-45FD-BCBA-1AF714F55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80496"/>
              </p:ext>
            </p:extLst>
          </p:nvPr>
        </p:nvGraphicFramePr>
        <p:xfrm>
          <a:off x="1363980" y="4087921"/>
          <a:ext cx="8285345" cy="14630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657589">
                  <a:extLst>
                    <a:ext uri="{9D8B030D-6E8A-4147-A177-3AD203B41FA5}">
                      <a16:colId xmlns:a16="http://schemas.microsoft.com/office/drawing/2014/main" val="878393843"/>
                    </a:ext>
                  </a:extLst>
                </a:gridCol>
                <a:gridCol w="2209540">
                  <a:extLst>
                    <a:ext uri="{9D8B030D-6E8A-4147-A177-3AD203B41FA5}">
                      <a16:colId xmlns:a16="http://schemas.microsoft.com/office/drawing/2014/main" val="2163198855"/>
                    </a:ext>
                  </a:extLst>
                </a:gridCol>
                <a:gridCol w="1254438">
                  <a:extLst>
                    <a:ext uri="{9D8B030D-6E8A-4147-A177-3AD203B41FA5}">
                      <a16:colId xmlns:a16="http://schemas.microsoft.com/office/drawing/2014/main" val="1965544425"/>
                    </a:ext>
                  </a:extLst>
                </a:gridCol>
                <a:gridCol w="3163778">
                  <a:extLst>
                    <a:ext uri="{9D8B030D-6E8A-4147-A177-3AD203B41FA5}">
                      <a16:colId xmlns:a16="http://schemas.microsoft.com/office/drawing/2014/main" val="3105557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Data Type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401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Primary key — unique user identifier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09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VARCHAR(150)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Full name of the user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27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Email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UQ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 email (used to login)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9014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password_hash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Hashed password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00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Role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ENUM(‘user’,‘admin’)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Role for access control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3232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Phone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Optional contact number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0647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DATETIME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Account creation timestamp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392737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05B48A3-DF5A-4BCA-BE69-CBF56335149D}"/>
              </a:ext>
            </a:extLst>
          </p:cNvPr>
          <p:cNvSpPr txBox="1"/>
          <p:nvPr/>
        </p:nvSpPr>
        <p:spPr>
          <a:xfrm flipH="1">
            <a:off x="1152624" y="1588168"/>
            <a:ext cx="102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85A90-A3D1-4E24-8295-F4C3CC99CED0}"/>
              </a:ext>
            </a:extLst>
          </p:cNvPr>
          <p:cNvSpPr txBox="1"/>
          <p:nvPr/>
        </p:nvSpPr>
        <p:spPr>
          <a:xfrm flipH="1">
            <a:off x="1145004" y="3706967"/>
            <a:ext cx="1580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Categories:</a:t>
            </a:r>
          </a:p>
        </p:txBody>
      </p:sp>
    </p:spTree>
    <p:extLst>
      <p:ext uri="{BB962C8B-B14F-4D97-AF65-F5344CB8AC3E}">
        <p14:creationId xmlns:p14="http://schemas.microsoft.com/office/powerpoint/2010/main" val="305797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82AB-74F9-42F6-9246-2BCF5A4B3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7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Products: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Cart: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E2E60E-3957-49C2-B273-97C764CFE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096758"/>
              </p:ext>
            </p:extLst>
          </p:nvPr>
        </p:nvGraphicFramePr>
        <p:xfrm>
          <a:off x="1030705" y="1378410"/>
          <a:ext cx="9749592" cy="182880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437398">
                  <a:extLst>
                    <a:ext uri="{9D8B030D-6E8A-4147-A177-3AD203B41FA5}">
                      <a16:colId xmlns:a16="http://schemas.microsoft.com/office/drawing/2014/main" val="3629533166"/>
                    </a:ext>
                  </a:extLst>
                </a:gridCol>
                <a:gridCol w="2437398">
                  <a:extLst>
                    <a:ext uri="{9D8B030D-6E8A-4147-A177-3AD203B41FA5}">
                      <a16:colId xmlns:a16="http://schemas.microsoft.com/office/drawing/2014/main" val="3041038552"/>
                    </a:ext>
                  </a:extLst>
                </a:gridCol>
                <a:gridCol w="2437398">
                  <a:extLst>
                    <a:ext uri="{9D8B030D-6E8A-4147-A177-3AD203B41FA5}">
                      <a16:colId xmlns:a16="http://schemas.microsoft.com/office/drawing/2014/main" val="602204838"/>
                    </a:ext>
                  </a:extLst>
                </a:gridCol>
                <a:gridCol w="2437398">
                  <a:extLst>
                    <a:ext uri="{9D8B030D-6E8A-4147-A177-3AD203B41FA5}">
                      <a16:colId xmlns:a16="http://schemas.microsoft.com/office/drawing/2014/main" val="391478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06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Unique product 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2621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category_id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categories(category_id)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 category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349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VARCHAR(200)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 title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455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Slug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VARCHAR(220)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UQ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URL-friendly product 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162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 detailed 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4629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Price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DECIMAL(10,2)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Unit price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4221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Stock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Number of units available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774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Image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Main image path/filename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7377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created_at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Timestamp added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4945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1FC9C4-888E-4657-8976-2E4B95AEC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445758"/>
              </p:ext>
            </p:extLst>
          </p:nvPr>
        </p:nvGraphicFramePr>
        <p:xfrm>
          <a:off x="1030705" y="3919249"/>
          <a:ext cx="9749591" cy="182880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949918">
                  <a:extLst>
                    <a:ext uri="{9D8B030D-6E8A-4147-A177-3AD203B41FA5}">
                      <a16:colId xmlns:a16="http://schemas.microsoft.com/office/drawing/2014/main" val="1330461890"/>
                    </a:ext>
                  </a:extLst>
                </a:gridCol>
                <a:gridCol w="2599891">
                  <a:extLst>
                    <a:ext uri="{9D8B030D-6E8A-4147-A177-3AD203B41FA5}">
                      <a16:colId xmlns:a16="http://schemas.microsoft.com/office/drawing/2014/main" val="1841219680"/>
                    </a:ext>
                  </a:extLst>
                </a:gridCol>
                <a:gridCol w="3249864">
                  <a:extLst>
                    <a:ext uri="{9D8B030D-6E8A-4147-A177-3AD203B41FA5}">
                      <a16:colId xmlns:a16="http://schemas.microsoft.com/office/drawing/2014/main" val="2067050739"/>
                    </a:ext>
                  </a:extLst>
                </a:gridCol>
                <a:gridCol w="1949918">
                  <a:extLst>
                    <a:ext uri="{9D8B030D-6E8A-4147-A177-3AD203B41FA5}">
                      <a16:colId xmlns:a16="http://schemas.microsoft.com/office/drawing/2014/main" val="41137015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13005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cart_id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Unique cart row 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45991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users(user_id)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Owner of the cart row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03522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products(product_id)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 added to cart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37842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product_name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VARCHAR(200)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Snapshot of product 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783245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price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DECIMAL(10,2)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Snapshot of product price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1738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quantity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Quantity selected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04595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added_at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When the item was added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2280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737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E9AAB-8F04-44BF-9041-D19EBCAE4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10515600" cy="5310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Order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Messages: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17110D-AB46-4093-892A-1894282A8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38457"/>
              </p:ext>
            </p:extLst>
          </p:nvPr>
        </p:nvGraphicFramePr>
        <p:xfrm>
          <a:off x="838200" y="1349534"/>
          <a:ext cx="9821779" cy="2079468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964356">
                  <a:extLst>
                    <a:ext uri="{9D8B030D-6E8A-4147-A177-3AD203B41FA5}">
                      <a16:colId xmlns:a16="http://schemas.microsoft.com/office/drawing/2014/main" val="211759972"/>
                    </a:ext>
                  </a:extLst>
                </a:gridCol>
                <a:gridCol w="2619141">
                  <a:extLst>
                    <a:ext uri="{9D8B030D-6E8A-4147-A177-3AD203B41FA5}">
                      <a16:colId xmlns:a16="http://schemas.microsoft.com/office/drawing/2014/main" val="2550809217"/>
                    </a:ext>
                  </a:extLst>
                </a:gridCol>
                <a:gridCol w="3273926">
                  <a:extLst>
                    <a:ext uri="{9D8B030D-6E8A-4147-A177-3AD203B41FA5}">
                      <a16:colId xmlns:a16="http://schemas.microsoft.com/office/drawing/2014/main" val="3717283834"/>
                    </a:ext>
                  </a:extLst>
                </a:gridCol>
                <a:gridCol w="1964356">
                  <a:extLst>
                    <a:ext uri="{9D8B030D-6E8A-4147-A177-3AD203B41FA5}">
                      <a16:colId xmlns:a16="http://schemas.microsoft.com/office/drawing/2014/main" val="1880987988"/>
                    </a:ext>
                  </a:extLst>
                </a:gridCol>
              </a:tblGrid>
              <a:tr h="2079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8322753"/>
                  </a:ext>
                </a:extLst>
              </a:tr>
              <a:tr h="2079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order_id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Unique order 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0908606"/>
                  </a:ext>
                </a:extLst>
              </a:tr>
              <a:tr h="2079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users(user_id)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 who placed the order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466032"/>
                  </a:ext>
                </a:extLst>
              </a:tr>
              <a:tr h="2079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total_amount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DECIMAL(12,2)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Sum of order items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6511359"/>
                  </a:ext>
                </a:extLst>
              </a:tr>
              <a:tr h="41589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VARCHAR(50)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e.g. pending, paid, shipped, delivered, cancelled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9646567"/>
                  </a:ext>
                </a:extLst>
              </a:tr>
              <a:tr h="41589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shipping_address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Shipping information snapshot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935007"/>
                  </a:ext>
                </a:extLst>
              </a:tr>
              <a:tr h="2079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payment_method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VARCHAR(50)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e.g. card, netbanking, COD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5100463"/>
                  </a:ext>
                </a:extLst>
              </a:tr>
              <a:tr h="2079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Order placement time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9050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EE0343-BB05-4ADF-A7DC-287512D4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970257"/>
              </p:ext>
            </p:extLst>
          </p:nvPr>
        </p:nvGraphicFramePr>
        <p:xfrm>
          <a:off x="838200" y="3912261"/>
          <a:ext cx="9821779" cy="226470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964356">
                  <a:extLst>
                    <a:ext uri="{9D8B030D-6E8A-4147-A177-3AD203B41FA5}">
                      <a16:colId xmlns:a16="http://schemas.microsoft.com/office/drawing/2014/main" val="3895571361"/>
                    </a:ext>
                  </a:extLst>
                </a:gridCol>
                <a:gridCol w="2619141">
                  <a:extLst>
                    <a:ext uri="{9D8B030D-6E8A-4147-A177-3AD203B41FA5}">
                      <a16:colId xmlns:a16="http://schemas.microsoft.com/office/drawing/2014/main" val="55950666"/>
                    </a:ext>
                  </a:extLst>
                </a:gridCol>
                <a:gridCol w="3273926">
                  <a:extLst>
                    <a:ext uri="{9D8B030D-6E8A-4147-A177-3AD203B41FA5}">
                      <a16:colId xmlns:a16="http://schemas.microsoft.com/office/drawing/2014/main" val="435428582"/>
                    </a:ext>
                  </a:extLst>
                </a:gridCol>
                <a:gridCol w="1964356">
                  <a:extLst>
                    <a:ext uri="{9D8B030D-6E8A-4147-A177-3AD203B41FA5}">
                      <a16:colId xmlns:a16="http://schemas.microsoft.com/office/drawing/2014/main" val="1767007541"/>
                    </a:ext>
                  </a:extLst>
                </a:gridCol>
              </a:tblGrid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8340604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message_id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Unique message 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813429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NULL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users(user_id)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If logged in, reference to user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4756223"/>
                  </a:ext>
                </a:extLst>
              </a:tr>
              <a:tr h="45294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VARCHAR(150)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Sender name (for guest messages)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293308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email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Sender email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7003172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subject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VARCHAR(255)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Message subject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1192133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message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Message body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8386767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is_read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TINYINT(1)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0 = unread, 1 = read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4456578"/>
                  </a:ext>
                </a:extLst>
              </a:tr>
              <a:tr h="2264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Submission time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53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345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B761-6EEF-4892-9A92-4E8617CB9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7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Reviews: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Admin: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CB3721-317A-4EAE-BCF1-601CEFB21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72318"/>
              </p:ext>
            </p:extLst>
          </p:nvPr>
        </p:nvGraphicFramePr>
        <p:xfrm>
          <a:off x="838199" y="1532414"/>
          <a:ext cx="9581148" cy="1896587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395287">
                  <a:extLst>
                    <a:ext uri="{9D8B030D-6E8A-4147-A177-3AD203B41FA5}">
                      <a16:colId xmlns:a16="http://schemas.microsoft.com/office/drawing/2014/main" val="1135300788"/>
                    </a:ext>
                  </a:extLst>
                </a:gridCol>
                <a:gridCol w="2395287">
                  <a:extLst>
                    <a:ext uri="{9D8B030D-6E8A-4147-A177-3AD203B41FA5}">
                      <a16:colId xmlns:a16="http://schemas.microsoft.com/office/drawing/2014/main" val="1543595524"/>
                    </a:ext>
                  </a:extLst>
                </a:gridCol>
                <a:gridCol w="2395287">
                  <a:extLst>
                    <a:ext uri="{9D8B030D-6E8A-4147-A177-3AD203B41FA5}">
                      <a16:colId xmlns:a16="http://schemas.microsoft.com/office/drawing/2014/main" val="354786200"/>
                    </a:ext>
                  </a:extLst>
                </a:gridCol>
                <a:gridCol w="2395287">
                  <a:extLst>
                    <a:ext uri="{9D8B030D-6E8A-4147-A177-3AD203B41FA5}">
                      <a16:colId xmlns:a16="http://schemas.microsoft.com/office/drawing/2014/main" val="3757312689"/>
                    </a:ext>
                  </a:extLst>
                </a:gridCol>
              </a:tblGrid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9223378"/>
                  </a:ext>
                </a:extLst>
              </a:tr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review_id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Unique review 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8821966"/>
                  </a:ext>
                </a:extLst>
              </a:tr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product_id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products(product_id)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Reviewed product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0854288"/>
                  </a:ext>
                </a:extLst>
              </a:tr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users(user_id)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Reviewer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9054238"/>
                  </a:ext>
                </a:extLst>
              </a:tr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rating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TINYINT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Rating (1-5)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2840362"/>
                  </a:ext>
                </a:extLst>
              </a:tr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comment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Review comment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7917907"/>
                  </a:ext>
                </a:extLst>
              </a:tr>
              <a:tr h="27094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When review was posted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9327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7DFFAD-77CC-4EAE-894E-B9091340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4682"/>
              </p:ext>
            </p:extLst>
          </p:nvPr>
        </p:nvGraphicFramePr>
        <p:xfrm>
          <a:off x="838200" y="4766502"/>
          <a:ext cx="9581148" cy="1158348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395287">
                  <a:extLst>
                    <a:ext uri="{9D8B030D-6E8A-4147-A177-3AD203B41FA5}">
                      <a16:colId xmlns:a16="http://schemas.microsoft.com/office/drawing/2014/main" val="1455087552"/>
                    </a:ext>
                  </a:extLst>
                </a:gridCol>
                <a:gridCol w="2395287">
                  <a:extLst>
                    <a:ext uri="{9D8B030D-6E8A-4147-A177-3AD203B41FA5}">
                      <a16:colId xmlns:a16="http://schemas.microsoft.com/office/drawing/2014/main" val="1680004600"/>
                    </a:ext>
                  </a:extLst>
                </a:gridCol>
                <a:gridCol w="2395287">
                  <a:extLst>
                    <a:ext uri="{9D8B030D-6E8A-4147-A177-3AD203B41FA5}">
                      <a16:colId xmlns:a16="http://schemas.microsoft.com/office/drawing/2014/main" val="1005395902"/>
                    </a:ext>
                  </a:extLst>
                </a:gridCol>
                <a:gridCol w="2395287">
                  <a:extLst>
                    <a:ext uri="{9D8B030D-6E8A-4147-A177-3AD203B41FA5}">
                      <a16:colId xmlns:a16="http://schemas.microsoft.com/office/drawing/2014/main" val="3064579156"/>
                    </a:ext>
                  </a:extLst>
                </a:gridCol>
              </a:tblGrid>
              <a:tr h="26419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Key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4214081"/>
                  </a:ext>
                </a:extLst>
              </a:tr>
              <a:tr h="26419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admin_id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 AUTO_INCREMENT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Unique admin 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6268052"/>
                  </a:ext>
                </a:extLst>
              </a:tr>
              <a:tr h="26419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FK -&gt; users(user_id)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Associated user account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5237363"/>
                  </a:ext>
                </a:extLst>
              </a:tr>
              <a:tr h="26419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privileges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Comma-separated special permissions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2930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616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C3E5-2FC7-4BAF-A907-465504E9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Screen Shorts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A3731-42B4-4A0D-83D3-10077AD823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86087" y="1982470"/>
            <a:ext cx="6219825" cy="28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88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F7875-A304-4202-87DC-C45C7F963F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53541" y="2242720"/>
            <a:ext cx="4842460" cy="2901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F58216-4B88-41C0-AD9D-8D5201EC0F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32884" y="2242720"/>
            <a:ext cx="4842460" cy="295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37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544F42-4747-43E3-B2EF-1292C3BF38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0088" y="1956117"/>
            <a:ext cx="5147260" cy="29457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820033-5487-4668-B21C-29BFA379F3F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44654" y="1899602"/>
            <a:ext cx="5147260" cy="30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73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BF2AE-E146-46E1-9498-8E6B0BDADC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8846" y="2368250"/>
            <a:ext cx="4882566" cy="27952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EC9049-5C7B-479A-A2C8-144F2F438C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2208230"/>
            <a:ext cx="5211428" cy="295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05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825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4C4D-01CD-476A-819A-20003145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3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82836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1528</Words>
  <Application>Microsoft Office PowerPoint</Application>
  <PresentationFormat>Widescreen</PresentationFormat>
  <Paragraphs>352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Shruti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Design</vt:lpstr>
      <vt:lpstr>E-R Diagram</vt:lpstr>
      <vt:lpstr>PowerPoint Presentation</vt:lpstr>
      <vt:lpstr>Data Flow Diagram</vt:lpstr>
      <vt:lpstr>PowerPoint Presentation</vt:lpstr>
      <vt:lpstr>PowerPoint Presentation</vt:lpstr>
      <vt:lpstr>PowerPoint Presentation</vt:lpstr>
      <vt:lpstr>DATA DICTIONARY</vt:lpstr>
      <vt:lpstr>PowerPoint Presentation</vt:lpstr>
      <vt:lpstr>PowerPoint Presentation</vt:lpstr>
      <vt:lpstr>PowerPoint Presentation</vt:lpstr>
      <vt:lpstr>Screen Shorts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Mainsha Kokra</dc:creator>
  <cp:lastModifiedBy>Administrator</cp:lastModifiedBy>
  <cp:revision>7</cp:revision>
  <dcterms:created xsi:type="dcterms:W3CDTF">2025-08-22T13:15:10Z</dcterms:created>
  <dcterms:modified xsi:type="dcterms:W3CDTF">2025-11-26T13:43:36Z</dcterms:modified>
</cp:coreProperties>
</file>